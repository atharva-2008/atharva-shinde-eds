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342" r:id="rId7"/>
    <p:sldId id="262" r:id="rId8"/>
    <p:sldId id="343" r:id="rId9"/>
    <p:sldId id="263" r:id="rId10"/>
  </p:sldIdLst>
  <p:sldSz cx="9144000" cy="5143500" type="screen16x9"/>
  <p:notesSz cx="6858000" cy="9144000"/>
  <p:embeddedFontLst>
    <p:embeddedFont>
      <p:font typeface="DM Serif Display" pitchFamily="2" charset="0"/>
      <p:regular r:id="rId12"/>
      <p:italic r:id="rId13"/>
    </p:embeddedFont>
    <p:embeddedFont>
      <p:font typeface="Karla" pitchFamily="2" charset="0"/>
      <p:regular r:id="rId14"/>
      <p:bold r:id="rId15"/>
      <p:italic r:id="rId16"/>
      <p:boldItalic r:id="rId17"/>
    </p:embeddedFont>
    <p:embeddedFont>
      <p:font typeface="Lucida Bright" panose="02040602050505020304" pitchFamily="18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F2FA6E-5FE6-463F-BADB-056A8610E190}">
  <a:tblStyle styleId="{26F2FA6E-5FE6-463F-BADB-056A8610E1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d4db157b90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d4db157b90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d3c3787e4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d3c3787e4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e643cbc4f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e643cbc4f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d3c3787e4d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d3c3787e4d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EC730536-EE4B-2DFB-5FEE-5BAC0E83C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d3c3787e4d_0_56:notes">
            <a:extLst>
              <a:ext uri="{FF2B5EF4-FFF2-40B4-BE49-F238E27FC236}">
                <a16:creationId xmlns:a16="http://schemas.microsoft.com/office/drawing/2014/main" id="{730A0A14-1476-1347-EAA1-98382016D9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d3c3787e4d_0_56:notes">
            <a:extLst>
              <a:ext uri="{FF2B5EF4-FFF2-40B4-BE49-F238E27FC236}">
                <a16:creationId xmlns:a16="http://schemas.microsoft.com/office/drawing/2014/main" id="{6CA2310B-40B2-1179-569D-CE5803824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4170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d86185eae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d86185eae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56E8C648-6FDB-6AE1-7F12-4F217AEE4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e643cbc4f6_0_23:notes">
            <a:extLst>
              <a:ext uri="{FF2B5EF4-FFF2-40B4-BE49-F238E27FC236}">
                <a16:creationId xmlns:a16="http://schemas.microsoft.com/office/drawing/2014/main" id="{368D5055-4534-1875-410F-7951BD762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e643cbc4f6_0_23:notes">
            <a:extLst>
              <a:ext uri="{FF2B5EF4-FFF2-40B4-BE49-F238E27FC236}">
                <a16:creationId xmlns:a16="http://schemas.microsoft.com/office/drawing/2014/main" id="{B230833A-0B2A-20D1-083B-CF8D022C60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416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e643cbc4f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e643cbc4f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00900" y="2715863"/>
            <a:ext cx="400050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550" y="184925"/>
            <a:ext cx="3262450" cy="25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913" y="-438012"/>
            <a:ext cx="2409825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6910775" y="206125"/>
            <a:ext cx="4339950" cy="311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941800" y="2746450"/>
            <a:ext cx="1733750" cy="3947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953325" y="1452750"/>
            <a:ext cx="7237500" cy="18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40125" y="3266850"/>
            <a:ext cx="60639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166450" y="2409795"/>
            <a:ext cx="48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293225" y="3165870"/>
            <a:ext cx="25578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334800" y="1047373"/>
            <a:ext cx="24744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883291">
            <a:off x="-398603" y="1661394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0313" y="163692"/>
            <a:ext cx="1840875" cy="178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46">
            <a:off x="941800" y="2746450"/>
            <a:ext cx="1733751" cy="394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1725" y="3219301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4126" y="609717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46">
            <a:off x="6379675" y="-1850875"/>
            <a:ext cx="1733751" cy="394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713225" y="1187600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7018400" y="-1769425"/>
            <a:ext cx="1733750" cy="394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143088" y="1694737"/>
            <a:ext cx="3538475" cy="20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30725" y="2721400"/>
            <a:ext cx="1666150" cy="161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83650" y="1533327"/>
            <a:ext cx="37767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83500" y="2353900"/>
            <a:ext cx="3777000" cy="14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905281">
            <a:off x="1835275" y="-2291450"/>
            <a:ext cx="19240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">
            <a:off x="618850" y="-1483600"/>
            <a:ext cx="3810950" cy="273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282886">
            <a:off x="790253" y="2486470"/>
            <a:ext cx="1774245" cy="4039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7253475" y="3556568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4511836">
            <a:off x="7354915" y="2408773"/>
            <a:ext cx="1697478" cy="1643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2" hasCustomPrompt="1"/>
          </p:nvPr>
        </p:nvSpPr>
        <p:spPr>
          <a:xfrm>
            <a:off x="1002325" y="1180055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3"/>
          </p:nvPr>
        </p:nvSpPr>
        <p:spPr>
          <a:xfrm>
            <a:off x="713225" y="1825998"/>
            <a:ext cx="25149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713225" y="2182181"/>
            <a:ext cx="25149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4" hasCustomPrompt="1"/>
          </p:nvPr>
        </p:nvSpPr>
        <p:spPr>
          <a:xfrm>
            <a:off x="3603686" y="1180055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5"/>
          </p:nvPr>
        </p:nvSpPr>
        <p:spPr>
          <a:xfrm>
            <a:off x="3314587" y="1825998"/>
            <a:ext cx="25149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6"/>
          </p:nvPr>
        </p:nvSpPr>
        <p:spPr>
          <a:xfrm>
            <a:off x="3314590" y="2182181"/>
            <a:ext cx="25149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7" hasCustomPrompt="1"/>
          </p:nvPr>
        </p:nvSpPr>
        <p:spPr>
          <a:xfrm>
            <a:off x="6205050" y="1180055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8"/>
          </p:nvPr>
        </p:nvSpPr>
        <p:spPr>
          <a:xfrm>
            <a:off x="5915950" y="1825999"/>
            <a:ext cx="25149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9"/>
          </p:nvPr>
        </p:nvSpPr>
        <p:spPr>
          <a:xfrm>
            <a:off x="5915954" y="2182182"/>
            <a:ext cx="25149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3" hasCustomPrompt="1"/>
          </p:nvPr>
        </p:nvSpPr>
        <p:spPr>
          <a:xfrm>
            <a:off x="2303000" y="2961254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4"/>
          </p:nvPr>
        </p:nvSpPr>
        <p:spPr>
          <a:xfrm>
            <a:off x="2013874" y="3611809"/>
            <a:ext cx="251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5"/>
          </p:nvPr>
        </p:nvSpPr>
        <p:spPr>
          <a:xfrm>
            <a:off x="2013863" y="3967993"/>
            <a:ext cx="25149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6" hasCustomPrompt="1"/>
          </p:nvPr>
        </p:nvSpPr>
        <p:spPr>
          <a:xfrm>
            <a:off x="4904284" y="2961254"/>
            <a:ext cx="19368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17"/>
          </p:nvPr>
        </p:nvSpPr>
        <p:spPr>
          <a:xfrm>
            <a:off x="4615140" y="3611809"/>
            <a:ext cx="251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8"/>
          </p:nvPr>
        </p:nvSpPr>
        <p:spPr>
          <a:xfrm>
            <a:off x="4615137" y="3967993"/>
            <a:ext cx="25149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95882" flipH="1">
            <a:off x="-158200" y="-709517"/>
            <a:ext cx="1572000" cy="381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106925" y="3556777"/>
            <a:ext cx="1187150" cy="1538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99011">
            <a:off x="8224735" y="801160"/>
            <a:ext cx="1889979" cy="4303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7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548200" y="367320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30805">
            <a:off x="7413023" y="1140648"/>
            <a:ext cx="1572004" cy="3813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-477775" y="3945601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-681239" y="-949837"/>
            <a:ext cx="2372929" cy="184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 idx="2" hasCustomPrompt="1"/>
          </p:nvPr>
        </p:nvSpPr>
        <p:spPr>
          <a:xfrm>
            <a:off x="1955890" y="1156200"/>
            <a:ext cx="24471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3"/>
          </p:nvPr>
        </p:nvSpPr>
        <p:spPr>
          <a:xfrm>
            <a:off x="1955890" y="1811680"/>
            <a:ext cx="24471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subTitle" idx="1"/>
          </p:nvPr>
        </p:nvSpPr>
        <p:spPr>
          <a:xfrm>
            <a:off x="1955890" y="2182175"/>
            <a:ext cx="24471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title" idx="4" hasCustomPrompt="1"/>
          </p:nvPr>
        </p:nvSpPr>
        <p:spPr>
          <a:xfrm>
            <a:off x="4741010" y="1156200"/>
            <a:ext cx="24471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1" name="Google Shape;111;p14"/>
          <p:cNvSpPr txBox="1">
            <a:spLocks noGrp="1"/>
          </p:cNvSpPr>
          <p:nvPr>
            <p:ph type="title" idx="5"/>
          </p:nvPr>
        </p:nvSpPr>
        <p:spPr>
          <a:xfrm>
            <a:off x="4741010" y="1811680"/>
            <a:ext cx="24471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subTitle" idx="6"/>
          </p:nvPr>
        </p:nvSpPr>
        <p:spPr>
          <a:xfrm>
            <a:off x="4741010" y="2182175"/>
            <a:ext cx="24471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title" idx="7" hasCustomPrompt="1"/>
          </p:nvPr>
        </p:nvSpPr>
        <p:spPr>
          <a:xfrm>
            <a:off x="1955890" y="2932750"/>
            <a:ext cx="24471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4" name="Google Shape;114;p14"/>
          <p:cNvSpPr txBox="1">
            <a:spLocks noGrp="1"/>
          </p:cNvSpPr>
          <p:nvPr>
            <p:ph type="title" idx="8"/>
          </p:nvPr>
        </p:nvSpPr>
        <p:spPr>
          <a:xfrm>
            <a:off x="1955890" y="3588231"/>
            <a:ext cx="24471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subTitle" idx="9"/>
          </p:nvPr>
        </p:nvSpPr>
        <p:spPr>
          <a:xfrm>
            <a:off x="1955890" y="3958725"/>
            <a:ext cx="24471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title" idx="13" hasCustomPrompt="1"/>
          </p:nvPr>
        </p:nvSpPr>
        <p:spPr>
          <a:xfrm>
            <a:off x="4741010" y="2932750"/>
            <a:ext cx="24471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7" name="Google Shape;117;p14"/>
          <p:cNvSpPr txBox="1">
            <a:spLocks noGrp="1"/>
          </p:cNvSpPr>
          <p:nvPr>
            <p:ph type="title" idx="14"/>
          </p:nvPr>
        </p:nvSpPr>
        <p:spPr>
          <a:xfrm>
            <a:off x="4741010" y="3588230"/>
            <a:ext cx="24471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subTitle" idx="15"/>
          </p:nvPr>
        </p:nvSpPr>
        <p:spPr>
          <a:xfrm>
            <a:off x="4741010" y="3958725"/>
            <a:ext cx="24471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9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>
            <a:spLocks noGrp="1"/>
          </p:cNvSpPr>
          <p:nvPr>
            <p:ph type="title"/>
          </p:nvPr>
        </p:nvSpPr>
        <p:spPr>
          <a:xfrm>
            <a:off x="2166450" y="1904970"/>
            <a:ext cx="48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subTitle" idx="1"/>
          </p:nvPr>
        </p:nvSpPr>
        <p:spPr>
          <a:xfrm>
            <a:off x="2166450" y="2661050"/>
            <a:ext cx="4241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618875"/>
            <a:ext cx="14277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34" name="Google Shape;134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883291">
            <a:off x="6338622" y="3279344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46288" y="1161667"/>
            <a:ext cx="1840875" cy="178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46">
            <a:off x="7914100" y="3060775"/>
            <a:ext cx="1733751" cy="394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6276800" y="638313"/>
            <a:ext cx="1393300" cy="1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597377">
            <a:off x="4625676" y="-2541707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75904" y="978148"/>
            <a:ext cx="2416825" cy="234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3668799">
            <a:off x="930329" y="-1893945"/>
            <a:ext cx="2136318" cy="5182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156636">
            <a:off x="2909701" y="-1582496"/>
            <a:ext cx="2002458" cy="4559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643364" flipH="1">
            <a:off x="2952851" y="2578502"/>
            <a:ext cx="2002458" cy="4559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9305281">
            <a:off x="6956225" y="-36025"/>
            <a:ext cx="19240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399999">
            <a:off x="6172375" y="658451"/>
            <a:ext cx="3810950" cy="273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0">
            <a:off x="155678" y="1026170"/>
            <a:ext cx="1774244" cy="403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6_1_1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7178600" y="160768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956358">
            <a:off x="5559239" y="-1676283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32425" y="2105999"/>
            <a:ext cx="2786538" cy="2161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119786" y="3372335"/>
            <a:ext cx="2058291" cy="199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6645600" y="369805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 flipH="1">
            <a:off x="7220750" y="3593750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358732">
            <a:off x="-399179" y="-654803"/>
            <a:ext cx="2002458" cy="4559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8760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8" r:id="rId5"/>
    <p:sldLayoutId id="2147483659" r:id="rId6"/>
    <p:sldLayoutId id="2147483660" r:id="rId7"/>
    <p:sldLayoutId id="2147483662" r:id="rId8"/>
    <p:sldLayoutId id="2147483694" r:id="rId9"/>
    <p:sldLayoutId id="2147483695" r:id="rId10"/>
    <p:sldLayoutId id="214748369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2ED3BA-600B-95F7-DA15-067639D66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0"/>
            <a:ext cx="4572000" cy="1257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A94F5A-24A1-DB36-033F-6A25BBE3EBB5}"/>
              </a:ext>
            </a:extLst>
          </p:cNvPr>
          <p:cNvSpPr txBox="1"/>
          <p:nvPr/>
        </p:nvSpPr>
        <p:spPr>
          <a:xfrm>
            <a:off x="1869621" y="1824334"/>
            <a:ext cx="5772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/>
              <a:t>ESSENSIALS OF DATA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ABF420-6692-BB31-0C25-1575F84F0872}"/>
              </a:ext>
            </a:extLst>
          </p:cNvPr>
          <p:cNvSpPr txBox="1"/>
          <p:nvPr/>
        </p:nvSpPr>
        <p:spPr>
          <a:xfrm>
            <a:off x="3082017" y="2922430"/>
            <a:ext cx="3347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Name: Atharva Sudhir Shinde</a:t>
            </a:r>
          </a:p>
          <a:p>
            <a:r>
              <a:rPr lang="en-US" sz="1800" dirty="0"/>
              <a:t>Branch: Computer Engineering</a:t>
            </a:r>
          </a:p>
          <a:p>
            <a:r>
              <a:rPr lang="en-US" sz="1800" dirty="0"/>
              <a:t>Batch: C35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373657-20FD-9A27-AF10-50CD992F1A68}"/>
              </a:ext>
            </a:extLst>
          </p:cNvPr>
          <p:cNvSpPr txBox="1"/>
          <p:nvPr/>
        </p:nvSpPr>
        <p:spPr>
          <a:xfrm>
            <a:off x="2898321" y="4251358"/>
            <a:ext cx="3347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TOPIC: WHILE LOOP</a:t>
            </a:r>
            <a:endParaRPr lang="en-IN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FCC160-465B-853B-FAC8-1B31A779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4" name="Google Shape;497;p54"/>
          <p:cNvSpPr txBox="1">
            <a:spLocks noGrp="1"/>
          </p:cNvSpPr>
          <p:nvPr>
            <p:ph type="body" idx="1"/>
          </p:nvPr>
        </p:nvSpPr>
        <p:spPr>
          <a:xfrm>
            <a:off x="718407" y="1727200"/>
            <a:ext cx="7718425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2000" dirty="0">
                <a:latin typeface="Lucida Bright" panose="02040602050505020304" pitchFamily="18" charset="0"/>
              </a:rPr>
              <a:t>The while loop is a looping statement in programming.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2000" dirty="0">
              <a:latin typeface="Lucida Bright" panose="020406020505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2000" dirty="0">
                <a:latin typeface="Lucida Bright" panose="02040602050505020304" pitchFamily="18" charset="0"/>
              </a:rPr>
              <a:t>It allows the program to execute a block of code repeatedly based on a condition.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2000" dirty="0">
              <a:latin typeface="Lucida Bright" panose="020406020505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2000" dirty="0">
                <a:latin typeface="Lucida Bright" panose="02040602050505020304" pitchFamily="18" charset="0"/>
              </a:rPr>
              <a:t>If the condition is true, the loop continues to run.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2000" dirty="0">
              <a:latin typeface="Lucida Bright" panose="020406020505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2000" dirty="0">
                <a:latin typeface="Lucida Bright" panose="02040602050505020304" pitchFamily="18" charset="0"/>
              </a:rPr>
              <a:t>If the condition is false, the loop stops execution.</a:t>
            </a:r>
            <a:endParaRPr sz="200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WHAT IS WHILE LOOP?</a:t>
            </a:r>
            <a:endParaRPr dirty="0"/>
          </a:p>
        </p:txBody>
      </p:sp>
      <p:sp>
        <p:nvSpPr>
          <p:cNvPr id="504" name="Google Shape;504;p55"/>
          <p:cNvSpPr txBox="1">
            <a:spLocks noGrp="1"/>
          </p:cNvSpPr>
          <p:nvPr>
            <p:ph type="title" idx="2"/>
          </p:nvPr>
        </p:nvSpPr>
        <p:spPr>
          <a:xfrm>
            <a:off x="713225" y="1180055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07" name="Google Shape;507;p55"/>
          <p:cNvSpPr txBox="1">
            <a:spLocks noGrp="1"/>
          </p:cNvSpPr>
          <p:nvPr>
            <p:ph type="title" idx="4"/>
          </p:nvPr>
        </p:nvSpPr>
        <p:spPr>
          <a:xfrm>
            <a:off x="3252622" y="1112200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10" name="Google Shape;510;p55"/>
          <p:cNvSpPr txBox="1">
            <a:spLocks noGrp="1"/>
          </p:cNvSpPr>
          <p:nvPr>
            <p:ph type="title" idx="7"/>
          </p:nvPr>
        </p:nvSpPr>
        <p:spPr>
          <a:xfrm>
            <a:off x="5959142" y="1112200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11" name="Google Shape;511;p55"/>
          <p:cNvSpPr txBox="1">
            <a:spLocks noGrp="1"/>
          </p:cNvSpPr>
          <p:nvPr>
            <p:ph type="title" idx="8"/>
          </p:nvPr>
        </p:nvSpPr>
        <p:spPr>
          <a:xfrm>
            <a:off x="5715310" y="1940855"/>
            <a:ext cx="2727657" cy="13233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1800" dirty="0">
                <a:latin typeface="Lucida Bright" panose="02040602050505020304" pitchFamily="18" charset="0"/>
              </a:rPr>
              <a:t>To control repetition based on a condition.</a:t>
            </a:r>
            <a:endParaRPr sz="1800" dirty="0">
              <a:latin typeface="Lucida Bright" panose="02040602050505020304" pitchFamily="18" charset="0"/>
            </a:endParaRPr>
          </a:p>
        </p:txBody>
      </p:sp>
      <p:sp>
        <p:nvSpPr>
          <p:cNvPr id="513" name="Google Shape;513;p55"/>
          <p:cNvSpPr txBox="1">
            <a:spLocks noGrp="1"/>
          </p:cNvSpPr>
          <p:nvPr>
            <p:ph type="title" idx="13"/>
          </p:nvPr>
        </p:nvSpPr>
        <p:spPr>
          <a:xfrm>
            <a:off x="1553311" y="3024498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14" name="Google Shape;514;p55"/>
          <p:cNvSpPr txBox="1">
            <a:spLocks noGrp="1"/>
          </p:cNvSpPr>
          <p:nvPr>
            <p:ph type="title" idx="14"/>
          </p:nvPr>
        </p:nvSpPr>
        <p:spPr>
          <a:xfrm>
            <a:off x="1173191" y="3853153"/>
            <a:ext cx="2953067" cy="14663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1800" dirty="0">
                <a:latin typeface="Lucida Bright" panose="02040602050505020304" pitchFamily="18" charset="0"/>
              </a:rPr>
              <a:t>Used when the number of iterations is not fixed.</a:t>
            </a:r>
            <a:endParaRPr sz="1800" dirty="0">
              <a:latin typeface="Lucida Bright" panose="02040602050505020304" pitchFamily="18" charset="0"/>
            </a:endParaRPr>
          </a:p>
        </p:txBody>
      </p:sp>
      <p:sp>
        <p:nvSpPr>
          <p:cNvPr id="516" name="Google Shape;516;p55"/>
          <p:cNvSpPr txBox="1">
            <a:spLocks noGrp="1"/>
          </p:cNvSpPr>
          <p:nvPr>
            <p:ph type="title" idx="16"/>
          </p:nvPr>
        </p:nvSpPr>
        <p:spPr>
          <a:xfrm>
            <a:off x="4746910" y="3024498"/>
            <a:ext cx="19368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517" name="Google Shape;517;p55"/>
          <p:cNvSpPr txBox="1">
            <a:spLocks noGrp="1"/>
          </p:cNvSpPr>
          <p:nvPr>
            <p:ph type="title" idx="17"/>
          </p:nvPr>
        </p:nvSpPr>
        <p:spPr>
          <a:xfrm>
            <a:off x="4418972" y="3852763"/>
            <a:ext cx="3080339" cy="12455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1800" dirty="0">
                <a:latin typeface="Lucida Bright" panose="02040602050505020304" pitchFamily="18" charset="0"/>
              </a:rPr>
              <a:t>To keep running until a condition becomes false.</a:t>
            </a:r>
            <a:endParaRPr sz="1800" dirty="0">
              <a:latin typeface="Lucida Bright" panose="02040602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2E6A4-C622-3F1E-E116-6D4D282C9C10}"/>
              </a:ext>
            </a:extLst>
          </p:cNvPr>
          <p:cNvSpPr txBox="1"/>
          <p:nvPr/>
        </p:nvSpPr>
        <p:spPr>
          <a:xfrm>
            <a:off x="606930" y="1999792"/>
            <a:ext cx="2149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Lucida Bright" panose="02040602050505020304" pitchFamily="18" charset="0"/>
              </a:rPr>
              <a:t>To repeat a set of instructions.</a:t>
            </a:r>
            <a:endParaRPr lang="en-IN" sz="1800" dirty="0">
              <a:latin typeface="Lucida Bright" panose="02040602050505020304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3D502E-5EC5-9907-E244-95EFF331DC7B}"/>
              </a:ext>
            </a:extLst>
          </p:cNvPr>
          <p:cNvSpPr>
            <a:spLocks noGrp="1"/>
          </p:cNvSpPr>
          <p:nvPr>
            <p:ph type="title" idx="5"/>
          </p:nvPr>
        </p:nvSpPr>
        <p:spPr>
          <a:xfrm>
            <a:off x="3075381" y="1964890"/>
            <a:ext cx="2514900" cy="957147"/>
          </a:xfrm>
        </p:spPr>
        <p:txBody>
          <a:bodyPr/>
          <a:lstStyle/>
          <a:p>
            <a:r>
              <a:rPr lang="en-US" sz="1800" dirty="0">
                <a:latin typeface="Lucida Bright" panose="02040602050505020304" pitchFamily="18" charset="0"/>
              </a:rPr>
              <a:t>To execute code multiple times.</a:t>
            </a:r>
            <a:endParaRPr lang="en-IN" sz="180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6"/>
          <p:cNvSpPr txBox="1">
            <a:spLocks noGrp="1"/>
          </p:cNvSpPr>
          <p:nvPr>
            <p:ph type="title"/>
          </p:nvPr>
        </p:nvSpPr>
        <p:spPr>
          <a:xfrm>
            <a:off x="713250" y="53133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SYNTAX</a:t>
            </a:r>
            <a:endParaRPr sz="3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79EE7D-AAEC-CD94-169C-7F2181CE9601}"/>
              </a:ext>
            </a:extLst>
          </p:cNvPr>
          <p:cNvSpPr txBox="1"/>
          <p:nvPr/>
        </p:nvSpPr>
        <p:spPr>
          <a:xfrm>
            <a:off x="1118507" y="2156251"/>
            <a:ext cx="7717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ucida Bright" panose="02040602050505020304" pitchFamily="18" charset="0"/>
              </a:rPr>
              <a:t>while condition:</a:t>
            </a:r>
          </a:p>
          <a:p>
            <a:r>
              <a:rPr lang="en-US" sz="2400" dirty="0">
                <a:latin typeface="Lucida Bright" panose="02040602050505020304" pitchFamily="18" charset="0"/>
              </a:rPr>
              <a:t>       statement (repeats while condition is true)</a:t>
            </a:r>
            <a:endParaRPr lang="en-IN" sz="240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7"/>
          <p:cNvSpPr txBox="1">
            <a:spLocks noGrp="1"/>
          </p:cNvSpPr>
          <p:nvPr>
            <p:ph type="title"/>
          </p:nvPr>
        </p:nvSpPr>
        <p:spPr>
          <a:xfrm>
            <a:off x="2683650" y="733227"/>
            <a:ext cx="37767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1</a:t>
            </a:r>
            <a:endParaRPr dirty="0"/>
          </a:p>
        </p:txBody>
      </p:sp>
      <p:sp>
        <p:nvSpPr>
          <p:cNvPr id="541" name="Google Shape;541;p57"/>
          <p:cNvSpPr txBox="1">
            <a:spLocks noGrp="1"/>
          </p:cNvSpPr>
          <p:nvPr>
            <p:ph type="subTitle" idx="1"/>
          </p:nvPr>
        </p:nvSpPr>
        <p:spPr>
          <a:xfrm>
            <a:off x="3083250" y="2100934"/>
            <a:ext cx="3777000" cy="189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nn-NO" sz="2400" dirty="0">
                <a:latin typeface="Lucida Bright" panose="02040602050505020304" pitchFamily="18" charset="0"/>
              </a:rPr>
              <a:t>i = 1</a:t>
            </a:r>
          </a:p>
          <a:p>
            <a:pPr algn="l"/>
            <a:r>
              <a:rPr lang="nn-NO" sz="2400" dirty="0">
                <a:latin typeface="Lucida Bright" panose="02040602050505020304" pitchFamily="18" charset="0"/>
              </a:rPr>
              <a:t>while i &lt;= 5:</a:t>
            </a:r>
          </a:p>
          <a:p>
            <a:pPr algn="l"/>
            <a:r>
              <a:rPr lang="nn-NO" sz="2400" dirty="0">
                <a:latin typeface="Lucida Bright" panose="02040602050505020304" pitchFamily="18" charset="0"/>
              </a:rPr>
              <a:t>    print(i)</a:t>
            </a:r>
          </a:p>
          <a:p>
            <a:pPr algn="l"/>
            <a:r>
              <a:rPr lang="nn-NO" sz="2400" dirty="0">
                <a:latin typeface="Lucida Bright" panose="02040602050505020304" pitchFamily="18" charset="0"/>
              </a:rPr>
              <a:t>    i = i + 1</a:t>
            </a:r>
          </a:p>
          <a:p>
            <a:pPr algn="l"/>
            <a:endParaRPr lang="nn-NO" sz="2400" dirty="0">
              <a:latin typeface="Lucida Bright" panose="02040602050505020304" pitchFamily="18" charset="0"/>
            </a:endParaRPr>
          </a:p>
          <a:p>
            <a:pPr algn="l"/>
            <a:r>
              <a:rPr lang="nn-NO" sz="2400" dirty="0">
                <a:latin typeface="Lucida Bright" panose="02040602050505020304" pitchFamily="18" charset="0"/>
              </a:rPr>
              <a:t>Output: 1 2 3 4 5</a:t>
            </a:r>
            <a:endParaRPr sz="240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82B84690-F8CC-937D-F1EB-6B190A64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7">
            <a:extLst>
              <a:ext uri="{FF2B5EF4-FFF2-40B4-BE49-F238E27FC236}">
                <a16:creationId xmlns:a16="http://schemas.microsoft.com/office/drawing/2014/main" id="{38CD4C90-E21C-5C99-5F20-654FBB97A4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3650" y="716899"/>
            <a:ext cx="37767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2</a:t>
            </a:r>
            <a:endParaRPr dirty="0"/>
          </a:p>
        </p:txBody>
      </p:sp>
      <p:sp>
        <p:nvSpPr>
          <p:cNvPr id="541" name="Google Shape;541;p57">
            <a:extLst>
              <a:ext uri="{FF2B5EF4-FFF2-40B4-BE49-F238E27FC236}">
                <a16:creationId xmlns:a16="http://schemas.microsoft.com/office/drawing/2014/main" id="{16265902-B487-5AAC-C646-9669E6A2621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26100" y="2043785"/>
            <a:ext cx="3777000" cy="189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pt-BR" sz="2400" dirty="0">
                <a:latin typeface="Lucida Bright" panose="02040602050505020304" pitchFamily="18" charset="0"/>
              </a:rPr>
              <a:t>num = 10</a:t>
            </a:r>
          </a:p>
          <a:p>
            <a:pPr algn="l"/>
            <a:r>
              <a:rPr lang="pt-BR" sz="2400" dirty="0">
                <a:latin typeface="Lucida Bright" panose="02040602050505020304" pitchFamily="18" charset="0"/>
              </a:rPr>
              <a:t>while num &gt; 0:</a:t>
            </a:r>
          </a:p>
          <a:p>
            <a:pPr algn="l"/>
            <a:r>
              <a:rPr lang="pt-BR" sz="2400" dirty="0">
                <a:latin typeface="Lucida Bright" panose="02040602050505020304" pitchFamily="18" charset="0"/>
              </a:rPr>
              <a:t>    print(num)</a:t>
            </a:r>
          </a:p>
          <a:p>
            <a:pPr algn="l"/>
            <a:r>
              <a:rPr lang="pt-BR" sz="2400" dirty="0">
                <a:latin typeface="Lucida Bright" panose="02040602050505020304" pitchFamily="18" charset="0"/>
              </a:rPr>
              <a:t>    num = num - 1</a:t>
            </a:r>
          </a:p>
          <a:p>
            <a:pPr algn="l"/>
            <a:endParaRPr lang="pt-BR" sz="2400" dirty="0">
              <a:latin typeface="Lucida Bright" panose="02040602050505020304" pitchFamily="18" charset="0"/>
            </a:endParaRPr>
          </a:p>
          <a:p>
            <a:pPr algn="l"/>
            <a:r>
              <a:rPr lang="pt-BR" sz="2400" dirty="0">
                <a:latin typeface="Lucida Bright" panose="02040602050505020304" pitchFamily="18" charset="0"/>
              </a:rPr>
              <a:t>Output: 10 9 8 ... 1</a:t>
            </a:r>
            <a:endParaRPr sz="24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99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9"/>
          <p:cNvSpPr txBox="1">
            <a:spLocks noGrp="1"/>
          </p:cNvSpPr>
          <p:nvPr>
            <p:ph type="subTitle" idx="1"/>
          </p:nvPr>
        </p:nvSpPr>
        <p:spPr>
          <a:xfrm>
            <a:off x="1783894" y="1224643"/>
            <a:ext cx="6131378" cy="34126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1" dirty="0">
                <a:latin typeface="Lucida Bright" panose="02040602050505020304" pitchFamily="18" charset="0"/>
              </a:rPr>
              <a:t>Filling Water Tank</a:t>
            </a:r>
            <a:br>
              <a:rPr lang="en-US" dirty="0">
                <a:latin typeface="Lucida Bright" panose="02040602050505020304" pitchFamily="18" charset="0"/>
              </a:rPr>
            </a:br>
            <a:r>
              <a:rPr lang="en-US" dirty="0">
                <a:latin typeface="Lucida Bright" panose="02040602050505020304" pitchFamily="18" charset="0"/>
              </a:rPr>
              <a:t>While tank is not full → Keep filling water.</a:t>
            </a:r>
          </a:p>
          <a:p>
            <a:pPr algn="l"/>
            <a:endParaRPr lang="en-US" dirty="0">
              <a:latin typeface="Lucida Bright" panose="02040602050505020304" pitchFamily="18" charset="0"/>
            </a:endParaRPr>
          </a:p>
          <a:p>
            <a:pPr algn="l"/>
            <a:r>
              <a:rPr lang="en-US" b="1" dirty="0">
                <a:latin typeface="Lucida Bright" panose="02040602050505020304" pitchFamily="18" charset="0"/>
              </a:rPr>
              <a:t>Downloading File</a:t>
            </a:r>
            <a:br>
              <a:rPr lang="en-US" dirty="0">
                <a:latin typeface="Lucida Bright" panose="02040602050505020304" pitchFamily="18" charset="0"/>
              </a:rPr>
            </a:br>
            <a:r>
              <a:rPr lang="en-US" dirty="0">
                <a:latin typeface="Lucida Bright" panose="02040602050505020304" pitchFamily="18" charset="0"/>
              </a:rPr>
              <a:t>While download not complete → Continue downloading.</a:t>
            </a:r>
          </a:p>
          <a:p>
            <a:pPr algn="l"/>
            <a:endParaRPr lang="en-US" dirty="0">
              <a:latin typeface="Lucida Bright" panose="02040602050505020304" pitchFamily="18" charset="0"/>
            </a:endParaRPr>
          </a:p>
          <a:p>
            <a:pPr algn="l"/>
            <a:r>
              <a:rPr lang="en-US" b="1" dirty="0">
                <a:latin typeface="Lucida Bright" panose="02040602050505020304" pitchFamily="18" charset="0"/>
              </a:rPr>
              <a:t>Playing Game</a:t>
            </a:r>
            <a:br>
              <a:rPr lang="en-US" dirty="0">
                <a:latin typeface="Lucida Bright" panose="02040602050505020304" pitchFamily="18" charset="0"/>
              </a:rPr>
            </a:br>
            <a:r>
              <a:rPr lang="en-US" dirty="0">
                <a:latin typeface="Lucida Bright" panose="02040602050505020304" pitchFamily="18" charset="0"/>
              </a:rPr>
              <a:t>While player is alive → Keep playing.</a:t>
            </a:r>
          </a:p>
          <a:p>
            <a:pPr algn="l"/>
            <a:endParaRPr lang="en-US" dirty="0">
              <a:latin typeface="Lucida Bright" panose="02040602050505020304" pitchFamily="18" charset="0"/>
            </a:endParaRPr>
          </a:p>
          <a:p>
            <a:pPr algn="l"/>
            <a:r>
              <a:rPr lang="en-US" b="1" dirty="0">
                <a:latin typeface="Lucida Bright" panose="02040602050505020304" pitchFamily="18" charset="0"/>
              </a:rPr>
              <a:t>Washing Clothes (Washing Machine)</a:t>
            </a:r>
            <a:br>
              <a:rPr lang="en-US" dirty="0">
                <a:latin typeface="Lucida Bright" panose="02040602050505020304" pitchFamily="18" charset="0"/>
              </a:rPr>
            </a:br>
            <a:r>
              <a:rPr lang="en-US" dirty="0">
                <a:latin typeface="Lucida Bright" panose="02040602050505020304" pitchFamily="18" charset="0"/>
              </a:rPr>
              <a:t>While clothes are not clean → Continue washing.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4" name="Google Shape;554;p59"/>
          <p:cNvSpPr txBox="1">
            <a:spLocks noGrp="1"/>
          </p:cNvSpPr>
          <p:nvPr>
            <p:ph type="title" idx="2"/>
          </p:nvPr>
        </p:nvSpPr>
        <p:spPr>
          <a:xfrm>
            <a:off x="1922688" y="157467"/>
            <a:ext cx="5298621" cy="6018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800" dirty="0"/>
              <a:t>REAL-LIFE EXAMPLES </a:t>
            </a: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3263EF85-4709-7367-6C46-FBC023ED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6">
            <a:extLst>
              <a:ext uri="{FF2B5EF4-FFF2-40B4-BE49-F238E27FC236}">
                <a16:creationId xmlns:a16="http://schemas.microsoft.com/office/drawing/2014/main" id="{22340DE0-B783-EE90-A1E2-6B7D0B472C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441529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CONCLUSION</a:t>
            </a:r>
            <a:endParaRPr sz="3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02ED69-23BC-5D61-0ED6-71915FFF4CB6}"/>
              </a:ext>
            </a:extLst>
          </p:cNvPr>
          <p:cNvSpPr txBox="1"/>
          <p:nvPr/>
        </p:nvSpPr>
        <p:spPr>
          <a:xfrm>
            <a:off x="713250" y="1878664"/>
            <a:ext cx="7717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>
                <a:latin typeface="Lucida Bright" panose="02040602050505020304" pitchFamily="18" charset="0"/>
              </a:rPr>
              <a:t>While loop is a basic and important concept in programming.</a:t>
            </a:r>
            <a:br>
              <a:rPr lang="en-US" sz="1800" dirty="0">
                <a:latin typeface="Lucida Bright" panose="02040602050505020304" pitchFamily="18" charset="0"/>
              </a:rPr>
            </a:br>
            <a:endParaRPr lang="en-US" sz="1800" dirty="0">
              <a:latin typeface="Lucida Bright" panose="02040602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>
                <a:latin typeface="Lucida Bright" panose="02040602050505020304" pitchFamily="18" charset="0"/>
              </a:rPr>
              <a:t>Helps in repeating tasks efficiently.</a:t>
            </a:r>
            <a:br>
              <a:rPr lang="en-US" sz="1800" dirty="0">
                <a:latin typeface="Lucida Bright" panose="02040602050505020304" pitchFamily="18" charset="0"/>
              </a:rPr>
            </a:br>
            <a:endParaRPr lang="en-US" sz="1800" dirty="0">
              <a:latin typeface="Lucida Bright" panose="02040602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>
                <a:latin typeface="Lucida Bright" panose="02040602050505020304" pitchFamily="18" charset="0"/>
              </a:rPr>
              <a:t>Widely used in real-world applications.</a:t>
            </a:r>
            <a:br>
              <a:rPr lang="en-US" sz="1800" dirty="0">
                <a:latin typeface="Lucida Bright" panose="02040602050505020304" pitchFamily="18" charset="0"/>
              </a:rPr>
            </a:br>
            <a:endParaRPr lang="en-US" sz="1800" dirty="0">
              <a:latin typeface="Lucida Bright" panose="02040602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>
                <a:latin typeface="Lucida Bright" panose="02040602050505020304" pitchFamily="18" charset="0"/>
              </a:rPr>
              <a:t>Essential for automating repetitive processes.</a:t>
            </a:r>
            <a:endParaRPr lang="en-IN" sz="1800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59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0"/>
          <p:cNvSpPr txBox="1">
            <a:spLocks noGrp="1"/>
          </p:cNvSpPr>
          <p:nvPr>
            <p:ph type="title"/>
          </p:nvPr>
        </p:nvSpPr>
        <p:spPr>
          <a:xfrm>
            <a:off x="2166450" y="2150850"/>
            <a:ext cx="48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 dirty="0">
                <a:latin typeface="Lucida Bright" panose="02040602050505020304" pitchFamily="18" charset="0"/>
              </a:rPr>
              <a:t>THANK YOU!</a:t>
            </a:r>
            <a:endParaRPr sz="4000" dirty="0">
              <a:latin typeface="Lucida Bright" panose="020406020505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Hepatitis Clinical Case by Slidesgo">
  <a:themeElements>
    <a:clrScheme name="Simple Light">
      <a:dk1>
        <a:srgbClr val="000000"/>
      </a:dk1>
      <a:lt1>
        <a:srgbClr val="FFFFFF"/>
      </a:lt1>
      <a:dk2>
        <a:srgbClr val="06688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PresentationFormat>On-screen Show (16:9)</PresentationFormat>
  <Paragraphs>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Karla</vt:lpstr>
      <vt:lpstr>Lucida Bright</vt:lpstr>
      <vt:lpstr>DM Serif Display</vt:lpstr>
      <vt:lpstr>Wingdings</vt:lpstr>
      <vt:lpstr>Arial</vt:lpstr>
      <vt:lpstr>Minimalist Hepatitis Clinical Case by Slidesgo</vt:lpstr>
      <vt:lpstr>PowerPoint Presentation</vt:lpstr>
      <vt:lpstr>INTRODUCTION</vt:lpstr>
      <vt:lpstr>WHAT IS WHILE LOOP?</vt:lpstr>
      <vt:lpstr>SYNTAX</vt:lpstr>
      <vt:lpstr>EXAMPLE 1</vt:lpstr>
      <vt:lpstr>EXAMPLE 2</vt:lpstr>
      <vt:lpstr>REAL-LIFE EXAMPLES 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SANIKA SHINDE</dc:creator>
  <cp:lastModifiedBy>Sanika Shinde</cp:lastModifiedBy>
  <cp:revision>1</cp:revision>
  <dcterms:modified xsi:type="dcterms:W3CDTF">2026-03-31T17:18:06Z</dcterms:modified>
</cp:coreProperties>
</file>